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C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AI App &amp; Agent Factory — From Idea to Production at Enterprise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|  March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514600" cy="155448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389120"/>
            <a:ext cx="25146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572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4389120"/>
            <a:ext cx="2514600" cy="155448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4389120"/>
            <a:ext cx="2514600" cy="54864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4572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39312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4389120"/>
            <a:ext cx="2514600" cy="155448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4389120"/>
            <a:ext cx="2514600" cy="54864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4572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9944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Regions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Brazil South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43416" y="4389120"/>
            <a:ext cx="2514600" cy="155448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43416" y="4389120"/>
            <a:ext cx="251460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80576" y="4572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80576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ISO, SOC 2, GDPR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Platform for Every Builder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520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270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 models (GPT, Llama, Phi, Mistral)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customization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 — swap freely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325880"/>
            <a:ext cx="3520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508760"/>
            <a:ext cx="457200" cy="457200"/>
          </a:xfrm>
          <a:prstGeom prst="ellipse">
            <a:avLst/>
          </a:prstGeom>
          <a:solidFill>
            <a:srgbClr val="00B2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15270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 (GA)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9432" y="2103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that reason &amp; act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long-running workflows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47304" y="1325880"/>
            <a:ext cx="3520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508760"/>
            <a:ext cx="457200" cy="457200"/>
          </a:xfrm>
          <a:prstGeom prst="ellipse">
            <a:avLst/>
          </a:prstGeom>
          <a:solidFill>
            <a:srgbClr val="5C2D9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600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15270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RAG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75904" y="2103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&amp; SharePoint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&amp; Code Interpreter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4360" y="3685032"/>
            <a:ext cx="3520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6791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593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446227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GitHub, Copilot Studio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.NET SDKs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orchestration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70832" y="3685032"/>
            <a:ext cx="3520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867912"/>
            <a:ext cx="457200" cy="457200"/>
          </a:xfrm>
          <a:prstGeom prst="ellipse">
            <a:avLst/>
          </a:prstGeom>
          <a:solidFill>
            <a:srgbClr val="D1343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9593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072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99432" y="446227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RBAC + Content Safety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guardrails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&amp; tracing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47304" y="3685032"/>
            <a:ext cx="3520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867912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95935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Deployment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75904" y="446227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(20+ Azure regions)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(Foundry Local)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multi-cloud ready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low-code (Copilot Studio) to full code-first (Python/.NET) — one platform, one governance umbrella.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Use Cases — Real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3840480"/>
          </a:xfrm>
          <a:prstGeom prst="rect">
            <a:avLst/>
          </a:prstGeom>
          <a:solidFill>
            <a:srgbClr val="F3F2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269748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16733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Service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resolve 40-60% of Tier 0/1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Compliant: BACEN, LGPD, PCI-DSS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ticketing integration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242316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453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faster response times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01568" y="1325880"/>
            <a:ext cx="2697480" cy="3840480"/>
          </a:xfrm>
          <a:prstGeom prst="rect">
            <a:avLst/>
          </a:prstGeom>
          <a:solidFill>
            <a:srgbClr val="F3F2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01568" y="1325880"/>
            <a:ext cx="2697480" cy="54864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5" name="Shape 12"/>
          <p:cNvSpPr/>
          <p:nvPr/>
        </p:nvSpPr>
        <p:spPr>
          <a:xfrm>
            <a:off x="4430268" y="1554480"/>
            <a:ext cx="640080" cy="640080"/>
          </a:xfrm>
          <a:prstGeom prst="ellipse">
            <a:avLst/>
          </a:prstGeom>
          <a:solidFill>
            <a:srgbClr val="00B29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167335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93008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93008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Operations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84448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troubleshooting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system front doors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detection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538728" y="4434840"/>
            <a:ext cx="2423160" cy="50292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21" name="Text 17"/>
          <p:cNvSpPr/>
          <p:nvPr/>
        </p:nvSpPr>
        <p:spPr>
          <a:xfrm>
            <a:off x="3538728" y="4453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MTTR, better CX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300216" y="1325880"/>
            <a:ext cx="2697480" cy="3840480"/>
          </a:xfrm>
          <a:prstGeom prst="rect">
            <a:avLst/>
          </a:prstGeom>
          <a:solidFill>
            <a:srgbClr val="F3F2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00216" y="1325880"/>
            <a:ext cx="2697480" cy="54864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4" name="Shape 20"/>
          <p:cNvSpPr/>
          <p:nvPr/>
        </p:nvSpPr>
        <p:spPr>
          <a:xfrm>
            <a:off x="7328916" y="1554480"/>
            <a:ext cx="640080" cy="640080"/>
          </a:xfrm>
          <a:prstGeom prst="ellipse">
            <a:avLst/>
          </a:prstGeom>
          <a:solidFill>
            <a:srgbClr val="5C2D9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1673352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91656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391656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Automation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83096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contract processing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+ AI agents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37376" y="4434840"/>
            <a:ext cx="2423160" cy="5029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0" name="Text 25"/>
          <p:cNvSpPr/>
          <p:nvPr/>
        </p:nvSpPr>
        <p:spPr>
          <a:xfrm>
            <a:off x="6437376" y="4453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198864" y="1325880"/>
            <a:ext cx="2697480" cy="3840480"/>
          </a:xfrm>
          <a:prstGeom prst="rect">
            <a:avLst/>
          </a:prstGeom>
          <a:solidFill>
            <a:srgbClr val="F3F2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198864" y="1325880"/>
            <a:ext cx="269748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3" name="Shape 28"/>
          <p:cNvSpPr/>
          <p:nvPr/>
        </p:nvSpPr>
        <p:spPr>
          <a:xfrm>
            <a:off x="10227564" y="1554480"/>
            <a:ext cx="640080" cy="640080"/>
          </a:xfrm>
          <a:prstGeom prst="ellipse">
            <a:avLst/>
          </a:prstGeom>
          <a:solidFill>
            <a:srgbClr val="FF8C00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436" y="1673352"/>
            <a:ext cx="402336" cy="40233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290304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290304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9381744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triage &amp; scheduling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handling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clinical notes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336024" y="4434840"/>
            <a:ext cx="2423160" cy="5029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9" name="Text 33"/>
          <p:cNvSpPr/>
          <p:nvPr/>
        </p:nvSpPr>
        <p:spPr>
          <a:xfrm>
            <a:off x="9336024" y="4453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admin burden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per audience. Brazil: Financial (BACEN), Telecom (TIM, Vivo), Retail (high-volume contact centers).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Secure, Scalable, Governed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280160"/>
            <a:ext cx="9966960" cy="548640"/>
          </a:xfrm>
          <a:prstGeom prst="rect">
            <a:avLst/>
          </a:prstGeom>
          <a:solidFill>
            <a:srgbClr val="DEEC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          Teams          Copilot M365          Voice/IVR          WhatsApp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0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8D4"/>
                </a:solidFill>
              </a:rPr>
              <a:t>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11430000" cy="32918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240280"/>
            <a:ext cx="11430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6583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 (GA)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1371600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3200400"/>
            <a:ext cx="1371600" cy="64008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3200400"/>
            <a:ext cx="1371600" cy="6400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3200400"/>
            <a:ext cx="1371600" cy="6400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78892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Integrations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/ RAG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1,400+ Logic Apps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Search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 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297680"/>
            <a:ext cx="2606040" cy="45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544568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8872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8872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Llama, Phi-3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Mistral, Hugging Face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74720" y="42976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474720" y="4297680"/>
            <a:ext cx="2606040" cy="4572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31" name="Shape 28"/>
          <p:cNvSpPr/>
          <p:nvPr/>
        </p:nvSpPr>
        <p:spPr>
          <a:xfrm>
            <a:off x="3566160" y="4480560"/>
            <a:ext cx="365760" cy="365760"/>
          </a:xfrm>
          <a:prstGeom prst="ellipse">
            <a:avLst/>
          </a:prstGeom>
          <a:solidFill>
            <a:srgbClr val="00B294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4544568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02336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02336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Search, Fabric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Cosmos DB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309360" y="42976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309360" y="4297680"/>
            <a:ext cx="2606040" cy="4572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37" name="Shape 33"/>
          <p:cNvSpPr/>
          <p:nvPr/>
        </p:nvSpPr>
        <p:spPr>
          <a:xfrm>
            <a:off x="6400800" y="4480560"/>
            <a:ext cx="365760" cy="365760"/>
          </a:xfrm>
          <a:prstGeom prst="ellipse">
            <a:avLst/>
          </a:prstGeom>
          <a:solidFill>
            <a:srgbClr val="D13438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544568"/>
            <a:ext cx="237744" cy="23774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85800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685800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RBAC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Safety, Audit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9144000" y="42976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9144000" y="4297680"/>
            <a:ext cx="2606040" cy="457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43" name="Shape 38"/>
          <p:cNvSpPr/>
          <p:nvPr/>
        </p:nvSpPr>
        <p:spPr>
          <a:xfrm>
            <a:off x="9235440" y="4480560"/>
            <a:ext cx="365760" cy="365760"/>
          </a:xfrm>
          <a:prstGeom prst="ellipse">
            <a:avLst/>
          </a:prstGeom>
          <a:solidFill>
            <a:srgbClr val="5C2D91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4544568"/>
            <a:ext cx="237744" cy="23774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69264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969264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AgentOps, Tracing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5760720" y="5577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8D4"/>
                </a:solidFill>
              </a:rPr>
              <a:t>▼</a:t>
            </a:r>
            <a:endParaRPr lang="en-US" sz="1800" dirty="0"/>
          </a:p>
        </p:txBody>
      </p:sp>
      <p:sp>
        <p:nvSpPr>
          <p:cNvPr id="48" name="Shape 42"/>
          <p:cNvSpPr/>
          <p:nvPr/>
        </p:nvSpPr>
        <p:spPr>
          <a:xfrm>
            <a:off x="1828800" y="5943600"/>
            <a:ext cx="2743200" cy="502920"/>
          </a:xfrm>
          <a:prstGeom prst="rect">
            <a:avLst/>
          </a:prstGeom>
          <a:solidFill>
            <a:srgbClr val="DEECF9"/>
          </a:solidFill>
          <a:ln/>
        </p:spPr>
      </p:sp>
      <p:sp>
        <p:nvSpPr>
          <p:cNvPr id="49" name="Text 43"/>
          <p:cNvSpPr/>
          <p:nvPr/>
        </p:nvSpPr>
        <p:spPr>
          <a:xfrm>
            <a:off x="1828800" y="5943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&amp; APIs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5029200" y="5943600"/>
            <a:ext cx="2743200" cy="502920"/>
          </a:xfrm>
          <a:prstGeom prst="rect">
            <a:avLst/>
          </a:prstGeom>
          <a:solidFill>
            <a:srgbClr val="DEECF9"/>
          </a:solidFill>
          <a:ln/>
        </p:spPr>
      </p:sp>
      <p:sp>
        <p:nvSpPr>
          <p:cNvPr id="51" name="Text 45"/>
          <p:cNvSpPr/>
          <p:nvPr/>
        </p:nvSpPr>
        <p:spPr>
          <a:xfrm>
            <a:off x="5029200" y="5943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Applications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8229600" y="5943600"/>
            <a:ext cx="2743200" cy="502920"/>
          </a:xfrm>
          <a:prstGeom prst="rect">
            <a:avLst/>
          </a:prstGeom>
          <a:solidFill>
            <a:srgbClr val="DEECF9"/>
          </a:solidFill>
          <a:ln/>
        </p:spPr>
      </p:sp>
      <p:sp>
        <p:nvSpPr>
          <p:cNvPr id="53" name="Text 47"/>
          <p:cNvSpPr/>
          <p:nvPr/>
        </p:nvSpPr>
        <p:spPr>
          <a:xfrm>
            <a:off x="8229600" y="5943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(Foundry Local)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of Opportunity is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560320" cy="914400"/>
          </a:xfrm>
          <a:prstGeom prst="rect">
            <a:avLst/>
          </a:prstGeom>
          <a:solidFill>
            <a:srgbClr val="2A4A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41732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47872" y="1143000"/>
            <a:ext cx="2560320" cy="914400"/>
          </a:xfrm>
          <a:prstGeom prst="rect">
            <a:avLst/>
          </a:prstGeom>
          <a:solidFill>
            <a:srgbClr val="3A6A8A"/>
          </a:solidFill>
          <a:ln/>
        </p:spPr>
      </p:sp>
      <p:sp>
        <p:nvSpPr>
          <p:cNvPr id="10" name="Text 7"/>
          <p:cNvSpPr/>
          <p:nvPr/>
        </p:nvSpPr>
        <p:spPr>
          <a:xfrm>
            <a:off x="3547872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47872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47872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417320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64224" y="1143000"/>
            <a:ext cx="2560320" cy="9144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1"/>
          <p:cNvSpPr/>
          <p:nvPr/>
        </p:nvSpPr>
        <p:spPr>
          <a:xfrm>
            <a:off x="6364224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64224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364224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417320"/>
            <a:ext cx="256032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80576" y="1143000"/>
            <a:ext cx="2560320" cy="91440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20" name="Text 15"/>
          <p:cNvSpPr/>
          <p:nvPr/>
        </p:nvSpPr>
        <p:spPr>
          <a:xfrm>
            <a:off x="9180576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180576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80576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Azure AI Foundry?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Build from Scratch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73552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 runtime</a:t>
            </a:r>
            <a:endParaRPr lang="en-US" sz="11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93592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included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13632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9728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less infra to manage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480560" y="2834640"/>
            <a:ext cx="347472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3" name="Text 25"/>
          <p:cNvSpPr/>
          <p:nvPr/>
        </p:nvSpPr>
        <p:spPr>
          <a:xfrm>
            <a:off x="448056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AWS Bedrock</a:t>
            </a:r>
            <a:endParaRPr lang="en-US" sz="12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273552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84632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M365/Fabric integration</a:t>
            </a:r>
            <a:endParaRPr lang="en-US" sz="11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593592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84632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GA</a:t>
            </a:r>
            <a:endParaRPr lang="en-US" sz="11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3913632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84632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Teams/Copilot channels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8229600" y="2834640"/>
            <a:ext cx="347472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1" name="Text 30"/>
          <p:cNvSpPr/>
          <p:nvPr/>
        </p:nvSpPr>
        <p:spPr>
          <a:xfrm>
            <a:off x="822960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Google Vertex</a:t>
            </a:r>
            <a:endParaRPr lang="en-US" sz="12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3273552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859536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catalog (11,000+)</a:t>
            </a:r>
            <a:endParaRPr lang="en-US" sz="11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0" y="3593592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59536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for edge</a:t>
            </a:r>
            <a:endParaRPr lang="en-US" sz="11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3913632"/>
            <a:ext cx="182880" cy="18288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859536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VS Code + GitHub</a:t>
            </a:r>
            <a:endParaRPr lang="en-US" sz="1100" dirty="0"/>
          </a:p>
        </p:txBody>
      </p:sp>
      <p:sp>
        <p:nvSpPr>
          <p:cNvPr id="48" name="Text 34"/>
          <p:cNvSpPr/>
          <p:nvPr/>
        </p:nvSpPr>
        <p:spPr>
          <a:xfrm>
            <a:off x="73152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2000" dirty="0"/>
          </a:p>
        </p:txBody>
      </p:sp>
      <p:sp>
        <p:nvSpPr>
          <p:cNvPr id="49" name="Shape 35"/>
          <p:cNvSpPr/>
          <p:nvPr/>
        </p:nvSpPr>
        <p:spPr>
          <a:xfrm>
            <a:off x="731520" y="4937760"/>
            <a:ext cx="2560320" cy="100584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Text 36"/>
          <p:cNvSpPr/>
          <p:nvPr/>
        </p:nvSpPr>
        <p:spPr>
          <a:xfrm>
            <a:off x="822960" y="5010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1" name="Text 37"/>
          <p:cNvSpPr/>
          <p:nvPr/>
        </p:nvSpPr>
        <p:spPr>
          <a:xfrm>
            <a:off x="1234440" y="5010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</a:t>
            </a:r>
            <a:endParaRPr lang="en-US" sz="1300" dirty="0"/>
          </a:p>
        </p:txBody>
      </p:sp>
      <p:sp>
        <p:nvSpPr>
          <p:cNvPr id="52" name="Text 38"/>
          <p:cNvSpPr/>
          <p:nvPr/>
        </p:nvSpPr>
        <p:spPr>
          <a:xfrm>
            <a:off x="1234440" y="5285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top 3 AI use cases</a:t>
            </a:r>
            <a:endParaRPr lang="en-US" sz="1000" dirty="0"/>
          </a:p>
        </p:txBody>
      </p:sp>
      <p:sp>
        <p:nvSpPr>
          <p:cNvPr id="53" name="Text 39"/>
          <p:cNvSpPr/>
          <p:nvPr/>
        </p:nvSpPr>
        <p:spPr>
          <a:xfrm>
            <a:off x="1234440" y="5577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54" name="Shape 40"/>
          <p:cNvSpPr/>
          <p:nvPr/>
        </p:nvSpPr>
        <p:spPr>
          <a:xfrm>
            <a:off x="3547872" y="4937760"/>
            <a:ext cx="2560320" cy="100584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41"/>
          <p:cNvSpPr/>
          <p:nvPr/>
        </p:nvSpPr>
        <p:spPr>
          <a:xfrm>
            <a:off x="3639312" y="5010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6" name="Text 42"/>
          <p:cNvSpPr/>
          <p:nvPr/>
        </p:nvSpPr>
        <p:spPr>
          <a:xfrm>
            <a:off x="4050792" y="5010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POC</a:t>
            </a:r>
            <a:endParaRPr lang="en-US" sz="1300" dirty="0"/>
          </a:p>
        </p:txBody>
      </p:sp>
      <p:sp>
        <p:nvSpPr>
          <p:cNvPr id="57" name="Text 43"/>
          <p:cNvSpPr/>
          <p:nvPr/>
        </p:nvSpPr>
        <p:spPr>
          <a:xfrm>
            <a:off x="4050792" y="5285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 for #1 use case</a:t>
            </a:r>
            <a:endParaRPr lang="en-US" sz="1000" dirty="0"/>
          </a:p>
        </p:txBody>
      </p:sp>
      <p:sp>
        <p:nvSpPr>
          <p:cNvPr id="58" name="Text 44"/>
          <p:cNvSpPr/>
          <p:nvPr/>
        </p:nvSpPr>
        <p:spPr>
          <a:xfrm>
            <a:off x="4050792" y="5577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weeks</a:t>
            </a:r>
            <a:endParaRPr lang="en-US" sz="1000" dirty="0"/>
          </a:p>
        </p:txBody>
      </p:sp>
      <p:sp>
        <p:nvSpPr>
          <p:cNvPr id="59" name="Shape 45"/>
          <p:cNvSpPr/>
          <p:nvPr/>
        </p:nvSpPr>
        <p:spPr>
          <a:xfrm>
            <a:off x="6364224" y="4937760"/>
            <a:ext cx="2560320" cy="100584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0" name="Text 46"/>
          <p:cNvSpPr/>
          <p:nvPr/>
        </p:nvSpPr>
        <p:spPr>
          <a:xfrm>
            <a:off x="6455664" y="5010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61" name="Text 47"/>
          <p:cNvSpPr/>
          <p:nvPr/>
        </p:nvSpPr>
        <p:spPr>
          <a:xfrm>
            <a:off x="6867144" y="5010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62" name="Text 48"/>
          <p:cNvSpPr/>
          <p:nvPr/>
        </p:nvSpPr>
        <p:spPr>
          <a:xfrm>
            <a:off x="6867144" y="5285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cost &amp; impact</a:t>
            </a:r>
            <a:endParaRPr lang="en-US" sz="1000" dirty="0"/>
          </a:p>
        </p:txBody>
      </p:sp>
      <p:sp>
        <p:nvSpPr>
          <p:cNvPr id="63" name="Text 49"/>
          <p:cNvSpPr/>
          <p:nvPr/>
        </p:nvSpPr>
        <p:spPr>
          <a:xfrm>
            <a:off x="6867144" y="5577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64" name="Shape 50"/>
          <p:cNvSpPr/>
          <p:nvPr/>
        </p:nvSpPr>
        <p:spPr>
          <a:xfrm>
            <a:off x="9180576" y="4937760"/>
            <a:ext cx="2560320" cy="1005840"/>
          </a:xfrm>
          <a:prstGeom prst="rect">
            <a:avLst/>
          </a:prstGeom>
          <a:solidFill>
            <a:srgbClr val="003D6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Text 51"/>
          <p:cNvSpPr/>
          <p:nvPr/>
        </p:nvSpPr>
        <p:spPr>
          <a:xfrm>
            <a:off x="9272016" y="5010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66" name="Text 52"/>
          <p:cNvSpPr/>
          <p:nvPr/>
        </p:nvSpPr>
        <p:spPr>
          <a:xfrm>
            <a:off x="9683496" y="5010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67" name="Text 53"/>
          <p:cNvSpPr/>
          <p:nvPr/>
        </p:nvSpPr>
        <p:spPr>
          <a:xfrm>
            <a:off x="9683496" y="5285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governance</a:t>
            </a:r>
            <a:endParaRPr lang="en-US" sz="1000" dirty="0"/>
          </a:p>
        </p:txBody>
      </p:sp>
      <p:sp>
        <p:nvSpPr>
          <p:cNvPr id="68" name="Text 54"/>
          <p:cNvSpPr/>
          <p:nvPr/>
        </p:nvSpPr>
        <p:spPr>
          <a:xfrm>
            <a:off x="9683496" y="5577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weeks</a:t>
            </a:r>
            <a:endParaRPr lang="en-US" sz="1000" dirty="0"/>
          </a:p>
        </p:txBody>
      </p:sp>
      <p:sp>
        <p:nvSpPr>
          <p:cNvPr id="69" name="Text 55"/>
          <p:cNvSpPr/>
          <p:nvPr/>
        </p:nvSpPr>
        <p:spPr>
          <a:xfrm>
            <a:off x="1371600" y="6217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process in your organization would benefit most from an intelligent agent that can reason, act, and learn?"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AI Foundry — Executive Overview</dc:title>
  <dc:subject>PptxGenJS Presentation</dc:subject>
  <dc:creator>CSA Brazil Team</dc:creator>
  <cp:lastModifiedBy>CSA Brazil Team</cp:lastModifiedBy>
  <cp:revision>1</cp:revision>
  <dcterms:created xsi:type="dcterms:W3CDTF">2026-03-13T12:13:55Z</dcterms:created>
  <dcterms:modified xsi:type="dcterms:W3CDTF">2026-03-13T12:13:55Z</dcterms:modified>
</cp:coreProperties>
</file>