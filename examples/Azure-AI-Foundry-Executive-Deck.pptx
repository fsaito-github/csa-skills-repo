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Azure AI Foundry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BBD5F0"/>
                </a:solidFill>
                <a:latin typeface="Segoe UI"/>
              </a:defRPr>
            </a:pPr>
            <a:r>
              <a:t>Your AI App &amp; Agent Factory — From Idea to Production at Enterprise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AACC"/>
                </a:solidFill>
                <a:latin typeface="Segoe UI"/>
              </a:defRPr>
            </a:pPr>
            <a:r>
              <a:t>Executive Overview  |  March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24688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160520"/>
            <a:ext cx="228600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8D4"/>
                </a:solidFill>
                <a:latin typeface="Segoe UI"/>
              </a:defRPr>
            </a:pPr>
            <a:r>
              <a:t>11,000+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92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Segoe UI"/>
              </a:defRPr>
            </a:pPr>
            <a:r>
              <a:t>AI Models Available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4114800"/>
            <a:ext cx="24688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4160520"/>
            <a:ext cx="228600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43434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07C10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4892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Segoe UI"/>
              </a:defRPr>
            </a:pPr>
            <a:r>
              <a:t>Production-Grade SLA 99.9%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4114800"/>
            <a:ext cx="24688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4160520"/>
            <a:ext cx="2286000" cy="5486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43434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5C2D91"/>
                </a:solidFill>
                <a:latin typeface="Segoe UI"/>
              </a:defRPr>
            </a:pPr>
            <a:r>
              <a:t>20+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892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Segoe UI"/>
              </a:defRPr>
            </a:pPr>
            <a:r>
              <a:t>Azure Regions (incl. Brazil)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4114800"/>
            <a:ext cx="24688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15400" y="4160520"/>
            <a:ext cx="22860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43434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8C00"/>
                </a:solidFill>
                <a:latin typeface="Segoe UI"/>
              </a:defRPr>
            </a:pPr>
            <a:r>
              <a:t>ISO/SOC/GDPR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4892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Segoe UI"/>
              </a:defRPr>
            </a:pPr>
            <a:r>
              <a:t>Enterprise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17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88AA"/>
                </a:solidFill>
                <a:latin typeface="Segoe UI"/>
              </a:defRPr>
            </a:pPr>
            <a:r>
              <a:t>Microsoft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The AI Platform for Every Builder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Segoe UI"/>
              </a:defRPr>
            </a:pPr>
            <a:r>
              <a:t>🧠  Model Catalog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Segoe UI"/>
              </a:defRPr>
            </a:pP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11,000+ models (OpenAI, Llama, Phi, Mistral)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Fine-tuning &amp; customization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No vendor lock-in — swap models freely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371600"/>
            <a:ext cx="347472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630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7C10"/>
                </a:solidFill>
                <a:latin typeface="Segoe UI"/>
              </a:defRPr>
            </a:pPr>
            <a:r>
              <a:t>🤖  Agent Service (GA)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Segoe UI"/>
              </a:defRPr>
            </a:pP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Autonomous agents that reason &amp; act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Multi-agent orchestration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Stateful, long-running workflows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371600"/>
            <a:ext cx="347472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4630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5C2D91"/>
                </a:solidFill>
                <a:latin typeface="Segoe UI"/>
              </a:defRPr>
            </a:pPr>
            <a:r>
              <a:t>🔍  Knowledge &amp;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18288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Segoe UI"/>
              </a:defRPr>
            </a:pP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Azure AI Search integration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Microsoft Fabric &amp; SharePoint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File Search &amp; Code Interpreter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611880"/>
            <a:ext cx="347472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033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Segoe UI"/>
              </a:defRPr>
            </a:pPr>
            <a:r>
              <a:t>💻  Developer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0690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Segoe UI"/>
              </a:defRPr>
            </a:pP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VS Code, GitHub, Copilot Studio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Python &amp; .NET SDKs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Semantic Kernel orchestration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3611880"/>
            <a:ext cx="347472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37033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13438"/>
                </a:solidFill>
                <a:latin typeface="Segoe UI"/>
              </a:defRPr>
            </a:pPr>
            <a:r>
              <a:t>🛡️  Enterprise Governance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0690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Segoe UI"/>
              </a:defRPr>
            </a:pP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Entra ID + RBAC + Content Safety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Responsible AI guardrails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Full audit trail &amp; tracing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0" y="3611880"/>
            <a:ext cx="347472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37033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8C00"/>
                </a:solidFill>
                <a:latin typeface="Segoe UI"/>
              </a:defRPr>
            </a:pPr>
            <a:r>
              <a:t>🌐  Flexible 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0690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Segoe UI"/>
              </a:defRPr>
            </a:pP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Cloud (20+ Azure regions)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Edge (Foundry Local)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Hybrid &amp; multi-cloud ready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05050"/>
                </a:solidFill>
                <a:latin typeface="Segoe UI"/>
              </a:defRPr>
            </a:pPr>
            <a:r>
              <a:t>From low-code (Copilot Studio) to full code-first (Python/.NET) — one platform, one governance umbrella.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Enterprise Use Cases — Real Impact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651760" cy="3474720"/>
          </a:xfrm>
          <a:prstGeom prst="round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65176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🏦 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05050"/>
                </a:solidFill>
                <a:latin typeface="Segoe UI"/>
              </a:defRPr>
            </a:pPr>
            <a:r>
              <a:t>AI-Powered Customer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Segoe UI"/>
              </a:defRPr>
            </a:pPr>
          </a:p>
          <a:p>
            <a:pPr algn="l">
              <a:spcBef>
                <a:spcPts val="4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Agents resolve 40-60% of Tier 0/1 autonomously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Compliant: BACEN, LGPD, PCI-DSS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Integrated with CRM, ticketing, knowledge base</a:t>
            </a:r>
          </a:p>
          <a:p>
            <a:pPr algn="l">
              <a:spcBef>
                <a:spcPts val="400"/>
              </a:spcBef>
              <a:defRPr sz="1100" b="1">
                <a:solidFill>
                  <a:srgbClr val="0078D4"/>
                </a:solidFill>
                <a:latin typeface="Segoe UI"/>
              </a:defRPr>
            </a:pPr>
            <a:r>
              <a:t>  📊 Result: 50% faster response times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371600"/>
            <a:ext cx="2651760" cy="3474720"/>
          </a:xfrm>
          <a:prstGeom prst="round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371600"/>
            <a:ext cx="265176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554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7C10"/>
                </a:solidFill>
                <a:latin typeface="Segoe UI"/>
              </a:defRPr>
            </a:pPr>
            <a:r>
              <a:t>📡  Telecom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920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05050"/>
                </a:solidFill>
                <a:latin typeface="Segoe UI"/>
              </a:defRPr>
            </a:pPr>
            <a:r>
              <a:t>Intelligent Operations &amp; Support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2860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Segoe UI"/>
              </a:defRPr>
            </a:pPr>
          </a:p>
          <a:p>
            <a:pPr algn="l">
              <a:spcBef>
                <a:spcPts val="4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Multi-agent network troubleshooting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Agents as 'front doors' for internal systems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Proactive anomaly detection &amp; auto-response</a:t>
            </a:r>
          </a:p>
          <a:p>
            <a:pPr algn="l">
              <a:spcBef>
                <a:spcPts val="400"/>
              </a:spcBef>
              <a:defRPr sz="1100" b="1">
                <a:solidFill>
                  <a:srgbClr val="107C10"/>
                </a:solidFill>
                <a:latin typeface="Segoe UI"/>
              </a:defRPr>
            </a:pPr>
            <a:r>
              <a:t>  📊 Result: Faster MTTR, better CX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371600"/>
            <a:ext cx="2651760" cy="3474720"/>
          </a:xfrm>
          <a:prstGeom prst="round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51760" cy="5486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C2D91"/>
                </a:solidFill>
                <a:latin typeface="Segoe UI"/>
              </a:defRPr>
            </a:pPr>
            <a:r>
              <a:t>🏭  Manufacturing &amp; Logistics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920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05050"/>
                </a:solidFill>
                <a:latin typeface="Segoe UI"/>
              </a:defRPr>
            </a:pPr>
            <a:r>
              <a:t>Supply Chain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2860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Segoe UI"/>
              </a:defRPr>
            </a:pPr>
          </a:p>
          <a:p>
            <a:pPr algn="l">
              <a:spcBef>
                <a:spcPts val="4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Document processing &amp; contract review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Real-time tracking with IoT + AI agents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Predictive maintenance (vision + telemetry)</a:t>
            </a:r>
          </a:p>
          <a:p>
            <a:pPr algn="l">
              <a:spcBef>
                <a:spcPts val="400"/>
              </a:spcBef>
              <a:defRPr sz="1100" b="1">
                <a:solidFill>
                  <a:srgbClr val="5C2D91"/>
                </a:solidFill>
                <a:latin typeface="Segoe UI"/>
              </a:defRPr>
            </a:pPr>
            <a:r>
              <a:t>  📊 Result: End-to-end workflow automation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371600"/>
            <a:ext cx="2651760" cy="3474720"/>
          </a:xfrm>
          <a:prstGeom prst="roundRect">
            <a:avLst/>
          </a:prstGeom>
          <a:solidFill>
            <a:srgbClr val="F3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371600"/>
            <a:ext cx="265176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554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🏥  Healthcare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920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05050"/>
                </a:solidFill>
                <a:latin typeface="Segoe UI"/>
              </a:defRPr>
            </a:pPr>
            <a:r>
              <a:t>Clinical Decision Support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22860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Segoe UI"/>
              </a:defRPr>
            </a:pPr>
          </a:p>
          <a:p>
            <a:pPr algn="l">
              <a:spcBef>
                <a:spcPts val="4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Patient triage &amp; appointment scheduling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HIPAA-compliant data handling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505050"/>
                </a:solidFill>
                <a:latin typeface="Segoe UI"/>
              </a:defRPr>
            </a:pPr>
            <a:r>
              <a:t>  Speech-to-text for clinical notes</a:t>
            </a:r>
          </a:p>
          <a:p>
            <a:pPr algn="l">
              <a:spcBef>
                <a:spcPts val="400"/>
              </a:spcBef>
              <a:defRPr sz="1100" b="1">
                <a:solidFill>
                  <a:srgbClr val="FF8C00"/>
                </a:solidFill>
                <a:latin typeface="Segoe UI"/>
              </a:defRPr>
            </a:pPr>
            <a:r>
              <a:t>  📊 Result: Reduced admin burden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Segoe UI"/>
              </a:defRPr>
            </a:pPr>
            <a:r>
              <a:t>💡 Customize per audience. Brazil focus: Financial Services (BACEN), Telecom (TIM, Vivo), Retail (high-volume contact centers).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Architecture — Secure, Scalable, Governed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280160"/>
            <a:ext cx="9418320" cy="548640"/>
          </a:xfrm>
          <a:prstGeom prst="roundRect">
            <a:avLst/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29844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8D4"/>
                </a:solidFill>
                <a:latin typeface="Segoe UI"/>
              </a:defRPr>
            </a:pPr>
            <a:r>
              <a:t>📱 Web/Mobile     💬 Teams     🤖 Copilot M365     📞 Voice/IVR     📲 WhatsApp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828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78D4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47120" cy="32004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112471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Segoe UI"/>
              </a:defRPr>
            </a:pPr>
            <a:r>
              <a:t>AZURE AI FOUNDRY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43200"/>
            <a:ext cx="64008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2B50"/>
                </a:solidFill>
                <a:latin typeface="Segoe UI"/>
              </a:defRPr>
            </a:pPr>
            <a:r>
              <a:t>🤖 Agent Service (GA)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108960"/>
            <a:ext cx="1371600" cy="5943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0040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Router Agent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23160" y="3108960"/>
            <a:ext cx="1371600" cy="59436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0" y="320040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Agent A: Resolve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3108960"/>
            <a:ext cx="1371600" cy="594360"/>
          </a:xfrm>
          <a:prstGeom prst="round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7640" y="320040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Agent B: Analyze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40680" y="3108960"/>
            <a:ext cx="1371600" cy="59436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320040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Agent C: Escalate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2743200"/>
            <a:ext cx="40233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2743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2B50"/>
                </a:solidFill>
                <a:latin typeface="Segoe UI"/>
              </a:defRPr>
            </a:pPr>
            <a:r>
              <a:t>🔧 Tools &amp; Integrations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3063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Segoe UI"/>
              </a:defRPr>
            </a:pPr>
          </a:p>
          <a:p>
            <a:pPr algn="l">
              <a:spcBef>
                <a:spcPts val="100"/>
              </a:spcBef>
              <a:defRPr sz="1000" b="0">
                <a:solidFill>
                  <a:srgbClr val="505050"/>
                </a:solidFill>
                <a:latin typeface="Segoe UI"/>
              </a:defRPr>
            </a:pPr>
            <a:r>
              <a:t>  • File Search / RAG</a:t>
            </a:r>
          </a:p>
          <a:p>
            <a:pPr algn="l">
              <a:spcBef>
                <a:spcPts val="100"/>
              </a:spcBef>
              <a:defRPr sz="1000" b="0">
                <a:solidFill>
                  <a:srgbClr val="505050"/>
                </a:solidFill>
                <a:latin typeface="Segoe UI"/>
              </a:defRPr>
            </a:pPr>
            <a:r>
              <a:t>  • Code Interpreter</a:t>
            </a:r>
          </a:p>
          <a:p>
            <a:pPr algn="l">
              <a:spcBef>
                <a:spcPts val="100"/>
              </a:spcBef>
              <a:defRPr sz="1000" b="0">
                <a:solidFill>
                  <a:srgbClr val="505050"/>
                </a:solidFill>
                <a:latin typeface="Segoe UI"/>
              </a:defRPr>
            </a:pPr>
            <a:r>
              <a:t>  • 1,400+ Logic Apps</a:t>
            </a:r>
          </a:p>
          <a:p>
            <a:pPr algn="l">
              <a:spcBef>
                <a:spcPts val="100"/>
              </a:spcBef>
              <a:defRPr sz="1000" b="0">
                <a:solidFill>
                  <a:srgbClr val="505050"/>
                </a:solidFill>
                <a:latin typeface="Segoe UI"/>
              </a:defRPr>
            </a:pPr>
            <a:r>
              <a:t>  • Bing Search</a:t>
            </a:r>
          </a:p>
          <a:p>
            <a:pPr algn="l">
              <a:spcBef>
                <a:spcPts val="100"/>
              </a:spcBef>
              <a:defRPr sz="1000" b="0">
                <a:solidFill>
                  <a:srgbClr val="505050"/>
                </a:solidFill>
                <a:latin typeface="Segoe UI"/>
              </a:defRPr>
            </a:pPr>
            <a:r>
              <a:t>  • Custom API Actions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206240"/>
            <a:ext cx="25603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4206240"/>
            <a:ext cx="256032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97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8D4"/>
                </a:solidFill>
                <a:latin typeface="Segoe UI"/>
              </a:defRPr>
            </a:pPr>
            <a:r>
              <a:t>🧠 Models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572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Segoe UI"/>
              </a:defRPr>
            </a:pPr>
            <a:r>
              <a:t>GPT-4o, Llama</a:t>
            </a:r>
            <a:br/>
            <a:r>
              <a:t>Phi-3, Mistral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20440" y="4206240"/>
            <a:ext cx="25603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20440" y="4206240"/>
            <a:ext cx="2560320" cy="457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1880" y="4297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📊 Knowledge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572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Segoe UI"/>
              </a:defRPr>
            </a:pPr>
            <a:r>
              <a:t>AI Search, Fabric</a:t>
            </a:r>
            <a:br/>
            <a:r>
              <a:t>SharePoint, Cosmos DB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4206240"/>
            <a:ext cx="25603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60" y="4206240"/>
            <a:ext cx="2560320" cy="4572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4297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13438"/>
                </a:solidFill>
                <a:latin typeface="Segoe UI"/>
              </a:defRPr>
            </a:pPr>
            <a:r>
              <a:t>🛡️ Governance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572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Segoe UI"/>
              </a:defRPr>
            </a:pPr>
            <a:r>
              <a:t>Entra ID, RBAC</a:t>
            </a:r>
            <a:br/>
            <a:r>
              <a:t>Content Safety, Audit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98280" y="4206240"/>
            <a:ext cx="25603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4206240"/>
            <a:ext cx="2560320" cy="4572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89720" y="4297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C2D91"/>
                </a:solidFill>
                <a:latin typeface="Segoe UI"/>
              </a:defRPr>
            </a:pPr>
            <a:r>
              <a:t>📈 Monitoring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4572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Segoe UI"/>
              </a:defRPr>
            </a:pPr>
            <a:r>
              <a:t>App Insights</a:t>
            </a:r>
            <a:br/>
            <a:r>
              <a:t>AgentOps, Tracing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60720" y="53949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78D4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86000" y="5760720"/>
            <a:ext cx="2560320" cy="502920"/>
          </a:xfrm>
          <a:prstGeom prst="roundRect">
            <a:avLst/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77440" y="5788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🏢 Enterprise Data &amp; APIs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0" y="5760720"/>
            <a:ext cx="2560320" cy="502920"/>
          </a:xfrm>
          <a:prstGeom prst="roundRect">
            <a:avLst/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77840" y="5788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☁️ SaaS Applications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12480" y="5760720"/>
            <a:ext cx="2560320" cy="502920"/>
          </a:xfrm>
          <a:prstGeom prst="roundRect">
            <a:avLst/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03920" y="5788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🏠 On-Premises (Foundry Local)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The Window of Opportunity is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2560320" cy="914400"/>
          </a:xfrm>
          <a:prstGeom prst="roundRect">
            <a:avLst/>
          </a:prstGeom>
          <a:solidFill>
            <a:srgbClr val="446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ChatGPT Hype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745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DDFF"/>
                </a:solidFill>
                <a:latin typeface="Segoe UI"/>
              </a:defRPr>
            </a:pPr>
            <a:r>
              <a:t>Experimentation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508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8BBDD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280160"/>
            <a:ext cx="2560320" cy="914400"/>
          </a:xfrm>
          <a:prstGeom prst="roundRect">
            <a:avLst/>
          </a:prstGeom>
          <a:solidFill>
            <a:srgbClr val="558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325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16002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Copilots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8745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DDFF"/>
                </a:solidFill>
                <a:latin typeface="Segoe UI"/>
              </a:defRPr>
            </a:pPr>
            <a:r>
              <a:t>Augmentation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1508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8BBDD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280160"/>
            <a:ext cx="2560320" cy="9144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325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002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Agents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8745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DDFF"/>
                </a:solidFill>
                <a:latin typeface="Segoe UI"/>
              </a:defRPr>
            </a:pPr>
            <a:r>
              <a:t>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1508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8BBDD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1280160"/>
            <a:ext cx="2560320" cy="914400"/>
          </a:xfrm>
          <a:prstGeom prst="roundRect">
            <a:avLst/>
          </a:prstGeom>
          <a:solidFill>
            <a:srgbClr val="33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1325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6002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Multi-Agent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8745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DDFF"/>
                </a:solidFill>
                <a:latin typeface="Segoe UI"/>
              </a:defRPr>
            </a:pPr>
            <a:r>
              <a:t>Transformation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560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Why Azure AI Foundry?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017520"/>
            <a:ext cx="3474720" cy="3200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175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vs. Build from Scratch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383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Segoe UI"/>
              </a:defRPr>
            </a:pPr>
            <a:r>
              <a:t>✅  Pre-built agent runtime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7033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Segoe UI"/>
              </a:defRPr>
            </a:pPr>
            <a:r>
              <a:t>✅  Enterprise governance included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0233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Segoe UI"/>
              </a:defRPr>
            </a:pPr>
            <a:r>
              <a:t>✅  80% less infra to manage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59" y="3017520"/>
            <a:ext cx="3474720" cy="3200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1999" y="30175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vs. AWS Bedrock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1999" y="3383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Segoe UI"/>
              </a:defRPr>
            </a:pPr>
            <a:r>
              <a:t>✅  Deeper M365/Fabric/Dynamics 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1999" y="37033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Segoe UI"/>
              </a:defRPr>
            </a:pPr>
            <a:r>
              <a:t>✅  Multi-agent orchestration GA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1999" y="40233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Segoe UI"/>
              </a:defRPr>
            </a:pPr>
            <a:r>
              <a:t>✅  Native Teams/Copilot channels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598" y="3017520"/>
            <a:ext cx="3474720" cy="3200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38" y="30175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vs. Google Vertex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38" y="3383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Segoe UI"/>
              </a:defRPr>
            </a:pPr>
            <a:r>
              <a:t>✅  Broader catalog (11,000+ models)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38" y="37033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Segoe UI"/>
              </a:defRPr>
            </a:pPr>
            <a:r>
              <a:t>✅  Foundry Local for edge/hybrid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38" y="40233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Segoe UI"/>
              </a:defRPr>
            </a:pPr>
            <a:r>
              <a:t>✅  Unified dev (VS Code + GitHub)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Recommended Next Steps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5029200"/>
            <a:ext cx="2560320" cy="1005840"/>
          </a:xfrm>
          <a:prstGeom prst="roundRect">
            <a:avLst/>
          </a:prstGeom>
          <a:solidFill>
            <a:srgbClr val="00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0474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1️⃣  Discovery Workshop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3218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CCEE"/>
                </a:solidFill>
                <a:latin typeface="Segoe UI"/>
              </a:defRPr>
            </a:pPr>
            <a:r>
              <a:t>Map top 3 AI use cases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577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Segoe UI"/>
              </a:defRPr>
            </a:pPr>
            <a:r>
              <a:t>⏱  1 week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20440" y="5029200"/>
            <a:ext cx="2560320" cy="1005840"/>
          </a:xfrm>
          <a:prstGeom prst="roundRect">
            <a:avLst/>
          </a:prstGeom>
          <a:solidFill>
            <a:srgbClr val="00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1880" y="50474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2️⃣  Focused POC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3218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CCEE"/>
                </a:solidFill>
                <a:latin typeface="Segoe UI"/>
              </a:defRPr>
            </a:pPr>
            <a:r>
              <a:t>Build agent for #1 use case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11880" y="5577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Segoe UI"/>
              </a:defRPr>
            </a:pPr>
            <a:r>
              <a:t>⏱  3-4 weeks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09360" y="5029200"/>
            <a:ext cx="2560320" cy="1005840"/>
          </a:xfrm>
          <a:prstGeom prst="roundRect">
            <a:avLst/>
          </a:prstGeom>
          <a:solidFill>
            <a:srgbClr val="00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50474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3️⃣  Evaluate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3218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CCEE"/>
                </a:solidFill>
                <a:latin typeface="Segoe UI"/>
              </a:defRPr>
            </a:pPr>
            <a:r>
              <a:t>Measure cost, performance, impact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577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Segoe UI"/>
              </a:defRPr>
            </a:pPr>
            <a:r>
              <a:t>⏱  1 week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98280" y="5029200"/>
            <a:ext cx="2560320" cy="1005840"/>
          </a:xfrm>
          <a:prstGeom prst="roundRect">
            <a:avLst/>
          </a:prstGeom>
          <a:solidFill>
            <a:srgbClr val="00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89720" y="50474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4️⃣  Scale to Production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89720" y="53218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CCEE"/>
                </a:solidFill>
                <a:latin typeface="Segoe UI"/>
              </a:defRPr>
            </a:pPr>
            <a:r>
              <a:t>Full deployment + governance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89720" y="5577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Segoe UI"/>
              </a:defRPr>
            </a:pPr>
            <a:r>
              <a:t>⏱  4-8 weeks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71600" y="62179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DDFF"/>
                </a:solidFill>
                <a:latin typeface="Segoe UI"/>
              </a:defRPr>
            </a:pPr>
            <a:r>
              <a:t>"Which process in your organization would benefit most from an intelligent agent that can reason, act, and learn?"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